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ASTRA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0" i="1">
                <a:solidFill>
                  <a:srgbClr val="06B6D4"/>
                </a:solidFill>
                <a:latin typeface="Calibri"/>
              </a:defRPr>
            </a:pPr>
            <a:r>
              <a:t>The AI Chief of Staff for Founders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Khwahish  |  Solo Founder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INNOSpark Pitch Competition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06B6D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Founders are drowning in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377440" cy="137160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 i="0">
                <a:solidFill>
                  <a:srgbClr val="06B6D4"/>
                </a:solidFill>
                <a:latin typeface="Calibri"/>
              </a:defRPr>
            </a:pPr>
            <a:r>
              <a:t>582M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entrepreneurs globally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377440" cy="137160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554480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 i="0">
                <a:solidFill>
                  <a:srgbClr val="06B6D4"/>
                </a:solidFill>
                <a:latin typeface="Calibri"/>
              </a:defRPr>
            </a:pPr>
            <a:r>
              <a:t>2+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10312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lost every morning to 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71600"/>
            <a:ext cx="2377440" cy="137160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54480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 i="0">
                <a:solidFill>
                  <a:srgbClr val="06B6D4"/>
                </a:solidFill>
                <a:latin typeface="Calibri"/>
              </a:defRPr>
            </a:pPr>
            <a:r>
              <a:t>$25B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0312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executive assistant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7680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Gmail, Calendar, Notion, Slack — 4 apps, 4 contexts, 4 places to miss something.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Traditional EAs cost $60-80K/year. Most founders can't afford one.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Every AI assistant today is reactive. None of them actually know your business.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06B6D4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An AI that runs your startup by 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657600" cy="13716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Voice-Native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31089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Say 'Brief me' and Astra checks calendar, inbox, commitments, and relationships. 30-second executive briefing.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371600"/>
            <a:ext cx="3657600" cy="13716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54864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50876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Email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74519"/>
            <a:ext cx="31089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Reads every email. Classifies by urgency. Drafts replies in your voice. Routes to your team. One command.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3657600" cy="13716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54864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79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Company Brain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39"/>
            <a:ext cx="31089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Every conversation distilled into vector-embedded knowledge. Semantically searchable. Institutional memory that grows.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017520"/>
            <a:ext cx="3657600" cy="13716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3017520"/>
            <a:ext cx="54864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154679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Proactive 24/7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520439"/>
            <a:ext cx="31089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Background AI scans email every 60s. Monitors risks. Surfaces issues before you ask. Always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06B6D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One model. One connection. Zero middleware.</a:t>
            </a:r>
          </a:p>
        </p:txBody>
      </p:sp>
      <p:sp>
        <p:nvSpPr>
          <p:cNvPr id="4" name="Oval 3"/>
          <p:cNvSpPr/>
          <p:nvPr/>
        </p:nvSpPr>
        <p:spPr>
          <a:xfrm>
            <a:off x="987551" y="1417320"/>
            <a:ext cx="402336" cy="40233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1" y="1417320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 i="0">
                <a:solidFill>
                  <a:srgbClr val="0A0E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19" y="196596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Your 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" y="246888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Browser mic</a:t>
            </a:r>
            <a:br/>
            <a:r>
              <a:t>16kHz PCM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1444752"/>
            <a:ext cx="2743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0" i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2679191" y="1417320"/>
            <a:ext cx="402336" cy="40233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1" y="1417320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 i="0">
                <a:solidFill>
                  <a:srgbClr val="0A0E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96596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Gemini 2.5</a:t>
            </a:r>
            <a:br/>
            <a:r>
              <a:t>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46888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Native Audio</a:t>
            </a:r>
            <a:br/>
            <a:r>
              <a:t>Live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1444752"/>
            <a:ext cx="2743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0" i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4370832" y="1417320"/>
            <a:ext cx="402336" cy="40233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1417320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 i="0">
                <a:solidFill>
                  <a:srgbClr val="0A0E1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196596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51 AI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46888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Gmail, Calendar</a:t>
            </a:r>
            <a:br/>
            <a:r>
              <a:t>Drive,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1444752"/>
            <a:ext cx="2743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0" i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6062472" y="1417320"/>
            <a:ext cx="402336" cy="40233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2472" y="1417320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 i="0">
                <a:solidFill>
                  <a:srgbClr val="0A0E1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196596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Company</a:t>
            </a:r>
            <a:br/>
            <a:r>
              <a:t>Brain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46888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Vector search</a:t>
            </a:r>
            <a:br/>
            <a:r>
              <a:t>Firestore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1444752"/>
            <a:ext cx="2743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0" i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7754111" y="1417320"/>
            <a:ext cx="402336" cy="40233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1" y="1417320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 i="0">
                <a:solidFill>
                  <a:srgbClr val="0A0E1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96596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46888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Reply, create</a:t>
            </a:r>
            <a:br/>
            <a:r>
              <a:t>alert,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246120"/>
            <a:ext cx="76809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No STT/TTS middleware — raw audio in, raw audio out = sub-second latency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51 tools callable mid-conversation without breaking the audio stream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768-dim vector embeddings with cosine similarity for semantic recall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Deployed on Google Cloud Run — auto-scaling, production-grade infrastructure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06B6D4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Not a prototype. A deployed product.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4067" y="1371600"/>
            <a:ext cx="1828800" cy="150876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4067" y="1508760"/>
            <a:ext cx="1828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 i="0">
                <a:solidFill>
                  <a:srgbClr val="06B6D4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067" y="196596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AI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7" y="2286000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Voice-callable</a:t>
            </a:r>
            <a:br/>
            <a:r>
              <a:t>in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9756" y="1371600"/>
            <a:ext cx="1828800" cy="150876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9756" y="1508760"/>
            <a:ext cx="1828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 i="0">
                <a:solidFill>
                  <a:srgbClr val="06B6D4"/>
                </a:solidFill>
                <a:latin typeface="Calibri"/>
              </a:defRPr>
            </a:pPr>
            <a:r>
              <a:t>240+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9756" y="196596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Emails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9756" y="2286000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Processed with</a:t>
            </a:r>
            <a:br/>
            <a:r>
              <a:t>full AI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5444" y="1371600"/>
            <a:ext cx="1828800" cy="150876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5444" y="1508760"/>
            <a:ext cx="1828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 i="0">
                <a:solidFill>
                  <a:srgbClr val="06B6D4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444" y="196596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5444" y="2286000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Real-time email</a:t>
            </a:r>
            <a:br/>
            <a:r>
              <a:t>&amp; risk scanning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1132" y="1371600"/>
            <a:ext cx="1828800" cy="150876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71132" y="1508760"/>
            <a:ext cx="1828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 i="0">
                <a:solidFill>
                  <a:srgbClr val="06B6D4"/>
                </a:solidFill>
                <a:latin typeface="Calibri"/>
              </a:defRPr>
            </a:pPr>
            <a:r>
              <a:t>60s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1132" y="196596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1132" y="2286000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Gmail History API</a:t>
            </a:r>
            <a:br/>
            <a:r>
              <a:t>incremental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00400"/>
            <a:ext cx="76809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7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Live at astracoach-rypr3jtzka-uc.a.run.app — try it right now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Open source on GitHub (github.com/khwahish1509/astracoach)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Previously submitted to Gemini Live Agent Challenge on Devpost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Solo-built: 10,000+ lines of code, full-stack, shipped in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06B6D4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SaaS pricing that scales with founders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2560320" cy="228600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 i="0">
                <a:solidFill>
                  <a:srgbClr val="06B6D4"/>
                </a:solidFill>
                <a:latin typeface="Calibri"/>
              </a:defRPr>
            </a:pPr>
            <a:r>
              <a:t>MOST POPULAR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37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 i="0">
                <a:solidFill>
                  <a:srgbClr val="06B6D4"/>
                </a:solidFill>
                <a:latin typeface="Calibri"/>
              </a:defRPr>
            </a:pPr>
            <a:r>
              <a:t>$49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1488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20116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1 founder, full voice AI,</a:t>
            </a:r>
            <a:br/>
            <a:r>
              <a:t>email intelligence,</a:t>
            </a:r>
            <a:br/>
            <a:r>
              <a:t>Company Brain, 24/7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560320" cy="228600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69164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11680"/>
            <a:ext cx="137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 i="0">
                <a:solidFill>
                  <a:srgbClr val="06B6D4"/>
                </a:solidFill>
                <a:latin typeface="Calibri"/>
              </a:defRPr>
            </a:pPr>
            <a:r>
              <a:t>$199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1488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14600"/>
            <a:ext cx="20116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Up to 4 founders,</a:t>
            </a:r>
            <a:br/>
            <a:r>
              <a:t>shared brain, team routing,</a:t>
            </a:r>
            <a:br/>
            <a:r>
              <a:t>priority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71600"/>
            <a:ext cx="2560320" cy="228600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9164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137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 i="0">
                <a:solidFill>
                  <a:srgbClr val="06B6D4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21488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pricing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514600"/>
            <a:ext cx="20116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Unlimited seats,</a:t>
            </a:r>
            <a:br/>
            <a:r>
              <a:t>SSO, dedicated instance,</a:t>
            </a:r>
            <a:br/>
            <a:r>
              <a:t>custom integrations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TAM: $25B exec assistant market  |  SAM: $2.1B AI-first segment  |  80%+ gross margins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06B6D4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What I'm looking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680960" cy="86868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55448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63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$250K Pre-Seed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810512"/>
            <a:ext cx="621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Two engineers + infrastructure scaling. Every dollar into product and growth.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7680960" cy="86868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265176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5176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56032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50 Design Partners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907792"/>
            <a:ext cx="621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Founders using Astra daily in 90 days. Real usage, real feedback, real product-market fit.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66160"/>
            <a:ext cx="7680960" cy="86868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54864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3749039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749039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65760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Advisors &amp; Mentors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005072"/>
            <a:ext cx="621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People who've scaled AI products. Strategic guidance to accelerate a solo founder.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800" b="1" i="0">
                <a:solidFill>
                  <a:srgbClr val="FFFFFF"/>
                </a:solidFill>
                <a:latin typeface="Calibri"/>
              </a:defRPr>
            </a:pPr>
            <a:r>
              <a:t>AI broke out of the chatbox.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800" b="1" i="0">
                <a:solidFill>
                  <a:srgbClr val="06B6D4"/>
                </a:solidFill>
                <a:latin typeface="Calibri"/>
              </a:defRPr>
            </a:pPr>
            <a:r>
              <a:t>I gave it a job.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5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Khwahish  |  Solo Founder  |  Astra OS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06B6D4"/>
                </a:solidFill>
                <a:latin typeface="Calibri"/>
              </a:defRPr>
            </a:pPr>
            <a:r>
              <a:t>Live: astracoach-rypr3jtzka-uc.a.run.app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Code: github.com/khwahish1509/astracoach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Email: tajjewellers14@gmail.com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